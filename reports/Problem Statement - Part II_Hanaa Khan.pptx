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6" r:id="rId1"/>
  </p:sldMasterIdLst>
  <p:sldIdLst>
    <p:sldId id="256" r:id="rId2"/>
    <p:sldId id="257" r:id="rId3"/>
    <p:sldId id="258" r:id="rId4"/>
    <p:sldId id="265" r:id="rId5"/>
    <p:sldId id="259" r:id="rId6"/>
    <p:sldId id="260" r:id="rId7"/>
    <p:sldId id="261" r:id="rId8"/>
    <p:sldId id="262" r:id="rId9"/>
    <p:sldId id="263" r:id="rId10"/>
    <p:sldId id="264" r:id="rId1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6728" autoAdjust="0"/>
    <p:restoredTop sz="94660"/>
  </p:normalViewPr>
  <p:slideViewPr>
    <p:cSldViewPr>
      <p:cViewPr varScale="1">
        <p:scale>
          <a:sx n="65" d="100"/>
          <a:sy n="65" d="100"/>
        </p:scale>
        <p:origin x="-1256" y="-64"/>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2"/>
      </p:bgRef>
    </p:bg>
    <p:spTree>
      <p:nvGrpSpPr>
        <p:cNvPr id="1" name=""/>
        <p:cNvGrpSpPr/>
        <p:nvPr/>
      </p:nvGrpSpPr>
      <p:grpSpPr>
        <a:xfrm>
          <a:off x="0" y="0"/>
          <a:ext cx="0" cy="0"/>
          <a:chOff x="0" y="0"/>
          <a:chExt cx="0" cy="0"/>
        </a:xfrm>
      </p:grpSpPr>
      <p:sp>
        <p:nvSpPr>
          <p:cNvPr id="9" name="Rectangle 8"/>
          <p:cNvSpPr/>
          <p:nvPr/>
        </p:nvSpPr>
        <p:spPr bwMode="ltGray">
          <a:xfrm>
            <a:off x="0" y="0"/>
            <a:ext cx="9143999" cy="5135430"/>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2" name="Title 1"/>
          <p:cNvSpPr>
            <a:spLocks noGrp="1"/>
          </p:cNvSpPr>
          <p:nvPr>
            <p:ph type="ctrTitle"/>
          </p:nvPr>
        </p:nvSpPr>
        <p:spPr>
          <a:xfrm>
            <a:off x="685800" y="3355848"/>
            <a:ext cx="8077200" cy="1673352"/>
          </a:xfrm>
        </p:spPr>
        <p:txBody>
          <a:bodyPr vert="horz" lIns="91440" tIns="0" rIns="45720" bIns="0" rtlCol="0" anchor="t">
            <a:normAutofit/>
            <a:scene3d>
              <a:camera prst="orthographicFront"/>
              <a:lightRig rig="threePt" dir="t">
                <a:rot lat="0" lon="0" rev="4800000"/>
              </a:lightRig>
            </a:scene3d>
            <a:sp3d prstMaterial="matte">
              <a:bevelT w="50800" h="10160"/>
            </a:sp3d>
          </a:bodyPr>
          <a:lstStyle>
            <a:lvl1pPr algn="l">
              <a:defRPr sz="4700" b="1"/>
            </a:lvl1pPr>
            <a:extLst/>
          </a:lstStyle>
          <a:p>
            <a:r>
              <a:rPr kumimoji="0" lang="en-US" smtClean="0"/>
              <a:t>Click to edit Master title style</a:t>
            </a:r>
            <a:endParaRPr kumimoji="0" lang="en-US"/>
          </a:p>
        </p:txBody>
      </p:sp>
      <p:sp>
        <p:nvSpPr>
          <p:cNvPr id="3" name="Subtitle 2"/>
          <p:cNvSpPr>
            <a:spLocks noGrp="1"/>
          </p:cNvSpPr>
          <p:nvPr>
            <p:ph type="subTitle" idx="1"/>
          </p:nvPr>
        </p:nvSpPr>
        <p:spPr>
          <a:xfrm>
            <a:off x="685800" y="1828800"/>
            <a:ext cx="8077200" cy="1499616"/>
          </a:xfrm>
        </p:spPr>
        <p:txBody>
          <a:bodyPr lIns="118872" tIns="0" rIns="45720" bIns="0" anchor="b"/>
          <a:lstStyle>
            <a:lvl1pPr marL="0" indent="0" algn="l">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extLst/>
          </a:lstStyle>
          <a:p>
            <a:r>
              <a:rPr kumimoji="0" lang="en-US" smtClean="0"/>
              <a:t>Click to edit Master subtitle style</a:t>
            </a:r>
            <a:endParaRPr kumimoji="0" lang="en-US"/>
          </a:p>
        </p:txBody>
      </p:sp>
      <p:sp>
        <p:nvSpPr>
          <p:cNvPr id="4" name="Date Placeholder 3"/>
          <p:cNvSpPr>
            <a:spLocks noGrp="1"/>
          </p:cNvSpPr>
          <p:nvPr>
            <p:ph type="dt" sz="half" idx="10"/>
          </p:nvPr>
        </p:nvSpPr>
        <p:spPr/>
        <p:txBody>
          <a:bodyPr/>
          <a:lstStyle/>
          <a:p>
            <a:fld id="{74636BEA-13AF-4BAF-8A13-74ECD4896D7E}" type="datetimeFigureOut">
              <a:rPr lang="en-US" smtClean="0"/>
              <a:pPr/>
              <a:t>4/26/2021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846D88B-51DC-4B92-8BCC-3A2996F7DD96}" type="slidenum">
              <a:rPr lang="en-US" smtClean="0"/>
              <a:pPr/>
              <a:t>‹#›</a:t>
            </a:fld>
            <a:endParaRPr lang="en-US"/>
          </a:p>
        </p:txBody>
      </p:sp>
      <p:sp>
        <p:nvSpPr>
          <p:cNvPr id="10" name="Rectangle 9"/>
          <p:cNvSpPr/>
          <p:nvPr/>
        </p:nvSpPr>
        <p:spPr bwMode="invGray">
          <a:xfrm>
            <a:off x="0" y="5128334"/>
            <a:ext cx="9144000" cy="45720"/>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55448"/>
            <a:ext cx="8229600" cy="1252728"/>
          </a:xfrm>
        </p:spPr>
        <p:txBody>
          <a:bodyPr/>
          <a:lstStyle>
            <a:extLst/>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74636BEA-13AF-4BAF-8A13-74ECD4896D7E}" type="datetimeFigureOut">
              <a:rPr lang="en-US" smtClean="0"/>
              <a:pPr/>
              <a:t>4/26/2021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846D88B-51DC-4B92-8BCC-3A2996F7DD96}"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2">
        <a:schemeClr val="bg2"/>
      </p:bgRef>
    </p:bg>
    <p:spTree>
      <p:nvGrpSpPr>
        <p:cNvPr id="1" name=""/>
        <p:cNvGrpSpPr/>
        <p:nvPr/>
      </p:nvGrpSpPr>
      <p:grpSpPr>
        <a:xfrm>
          <a:off x="0" y="0"/>
          <a:ext cx="0" cy="0"/>
          <a:chOff x="0" y="0"/>
          <a:chExt cx="0" cy="0"/>
        </a:xfrm>
      </p:grpSpPr>
      <p:sp>
        <p:nvSpPr>
          <p:cNvPr id="9" name="Rectangle 8"/>
          <p:cNvSpPr/>
          <p:nvPr/>
        </p:nvSpPr>
        <p:spPr bwMode="ltGray">
          <a:xfrm>
            <a:off x="0" y="1"/>
            <a:ext cx="9144000" cy="2602520"/>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12" name="Rectangle 11"/>
          <p:cNvSpPr/>
          <p:nvPr/>
        </p:nvSpPr>
        <p:spPr bwMode="invGray">
          <a:xfrm>
            <a:off x="0" y="2602520"/>
            <a:ext cx="9144000" cy="45720"/>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2" name="Title 1"/>
          <p:cNvSpPr>
            <a:spLocks noGrp="1"/>
          </p:cNvSpPr>
          <p:nvPr>
            <p:ph type="title"/>
          </p:nvPr>
        </p:nvSpPr>
        <p:spPr>
          <a:xfrm>
            <a:off x="749808" y="118872"/>
            <a:ext cx="8013192" cy="1636776"/>
          </a:xfrm>
        </p:spPr>
        <p:txBody>
          <a:bodyPr vert="horz" lIns="91440" tIns="0" rIns="91440" bIns="0" rtlCol="0" anchor="b">
            <a:normAutofit/>
            <a:scene3d>
              <a:camera prst="orthographicFront"/>
              <a:lightRig rig="threePt" dir="t">
                <a:rot lat="0" lon="0" rev="4800000"/>
              </a:lightRig>
            </a:scene3d>
            <a:sp3d prstMaterial="matte">
              <a:bevelT w="50800" h="10160"/>
            </a:sp3d>
          </a:bodyPr>
          <a:lstStyle>
            <a:lvl1pPr algn="l">
              <a:defRPr sz="4700" b="1" cap="none" baseline="0"/>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740664" y="1828800"/>
            <a:ext cx="8022336" cy="685800"/>
          </a:xfrm>
        </p:spPr>
        <p:txBody>
          <a:bodyPr lIns="146304" tIns="0" rIns="45720" bIns="0" anchor="t"/>
          <a:lstStyle>
            <a:lvl1pPr marL="0" indent="0">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74636BEA-13AF-4BAF-8A13-74ECD4896D7E}" type="datetimeFigureOut">
              <a:rPr lang="en-US" smtClean="0"/>
              <a:pPr/>
              <a:t>4/26/2021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846D88B-51DC-4B92-8BCC-3A2996F7DD96}"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773936"/>
            <a:ext cx="4038600" cy="4623816"/>
          </a:xfrm>
        </p:spPr>
        <p:txBody>
          <a:bodyPr lIns="91440"/>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773936"/>
            <a:ext cx="4038600" cy="462381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74636BEA-13AF-4BAF-8A13-74ECD4896D7E}" type="datetimeFigureOut">
              <a:rPr lang="en-US" smtClean="0"/>
              <a:pPr/>
              <a:t>4/26/2021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846D88B-51DC-4B92-8BCC-3A2996F7DD96}"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698987"/>
            <a:ext cx="4040188" cy="715355"/>
          </a:xfrm>
        </p:spPr>
        <p:txBody>
          <a:bodyPr lIns="146304" anchor="ctr"/>
          <a:lstStyle>
            <a:lvl1pPr marL="0" indent="0">
              <a:buNone/>
              <a:defRPr sz="23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extLst/>
          </a:lstStyle>
          <a:p>
            <a:pPr lvl="0" eaLnBrk="1" latinLnBrk="0" hangingPunct="1"/>
            <a:r>
              <a:rPr kumimoji="0" lang="en-US" smtClean="0"/>
              <a:t>Click to edit Master text styles</a:t>
            </a:r>
          </a:p>
        </p:txBody>
      </p:sp>
      <p:sp>
        <p:nvSpPr>
          <p:cNvPr id="4" name="Content Placeholder 3"/>
          <p:cNvSpPr>
            <a:spLocks noGrp="1"/>
          </p:cNvSpPr>
          <p:nvPr>
            <p:ph sz="half" idx="2"/>
          </p:nvPr>
        </p:nvSpPr>
        <p:spPr>
          <a:xfrm>
            <a:off x="457200" y="2449512"/>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Text Placeholder 4"/>
          <p:cNvSpPr>
            <a:spLocks noGrp="1"/>
          </p:cNvSpPr>
          <p:nvPr>
            <p:ph type="body" sz="quarter" idx="3"/>
          </p:nvPr>
        </p:nvSpPr>
        <p:spPr>
          <a:xfrm>
            <a:off x="4645025" y="1698987"/>
            <a:ext cx="4041775" cy="715355"/>
          </a:xfrm>
        </p:spPr>
        <p:txBody>
          <a:bodyPr lIns="146304" anchor="ctr"/>
          <a:lstStyle>
            <a:lvl1pPr marL="0" indent="0">
              <a:buNone/>
              <a:defRPr sz="23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extLst/>
          </a:lstStyle>
          <a:p>
            <a:pPr lvl="0" eaLnBrk="1" latinLnBrk="0" hangingPunct="1"/>
            <a:r>
              <a:rPr kumimoji="0" lang="en-US" smtClean="0"/>
              <a:t>Click to edit Master text styles</a:t>
            </a:r>
          </a:p>
        </p:txBody>
      </p:sp>
      <p:sp>
        <p:nvSpPr>
          <p:cNvPr id="6" name="Content Placeholder 5"/>
          <p:cNvSpPr>
            <a:spLocks noGrp="1"/>
          </p:cNvSpPr>
          <p:nvPr>
            <p:ph sz="quarter" idx="4"/>
          </p:nvPr>
        </p:nvSpPr>
        <p:spPr>
          <a:xfrm>
            <a:off x="4645025" y="2449512"/>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74636BEA-13AF-4BAF-8A13-74ECD4896D7E}" type="datetimeFigureOut">
              <a:rPr lang="en-US" smtClean="0"/>
              <a:pPr/>
              <a:t>4/26/2021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846D88B-51DC-4B92-8BCC-3A2996F7DD96}"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74636BEA-13AF-4BAF-8A13-74ECD4896D7E}" type="datetimeFigureOut">
              <a:rPr lang="en-US" smtClean="0"/>
              <a:pPr/>
              <a:t>4/26/2021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846D88B-51DC-4B92-8BCC-3A2996F7DD96}"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4636BEA-13AF-4BAF-8A13-74ECD4896D7E}" type="datetimeFigureOut">
              <a:rPr lang="en-US" smtClean="0"/>
              <a:pPr/>
              <a:t>4/26/2021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846D88B-51DC-4B92-8BCC-3A2996F7DD96}"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7838" y="152400"/>
            <a:ext cx="2523744" cy="978408"/>
          </a:xfrm>
        </p:spPr>
        <p:txBody>
          <a:bodyPr vert="horz" lIns="73152" rIns="45720" bIns="0" rtlCol="0" anchor="b">
            <a:normAutofit/>
            <a:sp3d prstMaterial="matte"/>
          </a:bodyPr>
          <a:lstStyle>
            <a:lvl1pPr algn="l">
              <a:defRPr sz="2000" b="0"/>
            </a:lvl1pPr>
            <a:extLst/>
          </a:lstStyle>
          <a:p>
            <a:r>
              <a:rPr kumimoji="0" lang="en-US" smtClean="0"/>
              <a:t>Click to edit Master title style</a:t>
            </a:r>
            <a:endParaRPr kumimoji="0" lang="en-US"/>
          </a:p>
        </p:txBody>
      </p:sp>
      <p:sp>
        <p:nvSpPr>
          <p:cNvPr id="3" name="Content Placeholder 2"/>
          <p:cNvSpPr>
            <a:spLocks noGrp="1"/>
          </p:cNvSpPr>
          <p:nvPr>
            <p:ph idx="1"/>
          </p:nvPr>
        </p:nvSpPr>
        <p:spPr>
          <a:xfrm>
            <a:off x="3019377" y="1743133"/>
            <a:ext cx="5920641" cy="455888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Text Placeholder 3"/>
          <p:cNvSpPr>
            <a:spLocks noGrp="1"/>
          </p:cNvSpPr>
          <p:nvPr>
            <p:ph type="body" sz="half" idx="2"/>
          </p:nvPr>
        </p:nvSpPr>
        <p:spPr>
          <a:xfrm>
            <a:off x="167838" y="1730018"/>
            <a:ext cx="2468880" cy="45720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extLst/>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74636BEA-13AF-4BAF-8A13-74ECD4896D7E}" type="datetimeFigureOut">
              <a:rPr lang="en-US" smtClean="0"/>
              <a:pPr/>
              <a:t>4/26/2021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846D88B-51DC-4B92-8BCC-3A2996F7DD96}" type="slidenum">
              <a:rPr lang="en-US" smtClean="0"/>
              <a:pPr/>
              <a:t>‹#›</a:t>
            </a:fld>
            <a:endParaRPr lang="en-US"/>
          </a:p>
        </p:txBody>
      </p:sp>
      <p:sp>
        <p:nvSpPr>
          <p:cNvPr id="12" name="Rectangle 11"/>
          <p:cNvSpPr/>
          <p:nvPr/>
        </p:nvSpPr>
        <p:spPr bwMode="invGray">
          <a:xfrm>
            <a:off x="2855737" y="0"/>
            <a:ext cx="45720" cy="1453896"/>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9" name="Rectangle 8"/>
          <p:cNvSpPr/>
          <p:nvPr/>
        </p:nvSpPr>
        <p:spPr bwMode="invGray">
          <a:xfrm>
            <a:off x="2855737" y="0"/>
            <a:ext cx="45720" cy="1453896"/>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64592" y="155448"/>
            <a:ext cx="2525150" cy="978408"/>
          </a:xfrm>
        </p:spPr>
        <p:txBody>
          <a:bodyPr lIns="73152" bIns="0" anchor="b">
            <a:sp3d prstMaterial="matte"/>
          </a:bodyPr>
          <a:lstStyle>
            <a:lvl1pPr algn="l">
              <a:defRPr sz="2000" b="0"/>
            </a:lvl1pPr>
            <a:extLst/>
          </a:lstStyle>
          <a:p>
            <a:r>
              <a:rPr kumimoji="0" lang="en-US" smtClean="0"/>
              <a:t>Click to edit Master title style</a:t>
            </a:r>
            <a:endParaRPr kumimoji="0" lang="en-US"/>
          </a:p>
        </p:txBody>
      </p:sp>
      <p:sp>
        <p:nvSpPr>
          <p:cNvPr id="3" name="Picture Placeholder 2"/>
          <p:cNvSpPr>
            <a:spLocks noGrp="1"/>
          </p:cNvSpPr>
          <p:nvPr>
            <p:ph type="pic" idx="1"/>
          </p:nvPr>
        </p:nvSpPr>
        <p:spPr>
          <a:xfrm>
            <a:off x="2903805" y="1484808"/>
            <a:ext cx="6247397" cy="5373192"/>
          </a:xfrm>
          <a:solidFill>
            <a:schemeClr val="bg2">
              <a:shade val="75000"/>
            </a:schemeClr>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extLst/>
          </a:lstStyle>
          <a:p>
            <a:r>
              <a:rPr kumimoji="0" lang="en-US" smtClean="0"/>
              <a:t>Click icon to add picture</a:t>
            </a:r>
            <a:endParaRPr kumimoji="0" lang="en-US" dirty="0"/>
          </a:p>
        </p:txBody>
      </p:sp>
      <p:sp>
        <p:nvSpPr>
          <p:cNvPr id="4" name="Text Placeholder 3"/>
          <p:cNvSpPr>
            <a:spLocks noGrp="1"/>
          </p:cNvSpPr>
          <p:nvPr>
            <p:ph type="body" sz="half" idx="2"/>
          </p:nvPr>
        </p:nvSpPr>
        <p:spPr>
          <a:xfrm>
            <a:off x="164592" y="1728216"/>
            <a:ext cx="2468880" cy="45720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extLst/>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a:xfrm>
            <a:off x="164592" y="1170432"/>
            <a:ext cx="2523744" cy="201168"/>
          </a:xfrm>
        </p:spPr>
        <p:txBody>
          <a:bodyPr/>
          <a:lstStyle/>
          <a:p>
            <a:fld id="{74636BEA-13AF-4BAF-8A13-74ECD4896D7E}" type="datetimeFigureOut">
              <a:rPr lang="en-US" smtClean="0"/>
              <a:pPr/>
              <a:t>4/26/2021</a:t>
            </a:fld>
            <a:endParaRPr lang="en-US"/>
          </a:p>
        </p:txBody>
      </p:sp>
      <p:sp>
        <p:nvSpPr>
          <p:cNvPr id="11" name="Rectangle 10"/>
          <p:cNvSpPr/>
          <p:nvPr/>
        </p:nvSpPr>
        <p:spPr>
          <a:xfrm>
            <a:off x="2855737" y="0"/>
            <a:ext cx="45720" cy="6858000"/>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9" name="Rectangle 8"/>
          <p:cNvSpPr/>
          <p:nvPr/>
        </p:nvSpPr>
        <p:spPr bwMode="invGray">
          <a:xfrm>
            <a:off x="2855737" y="0"/>
            <a:ext cx="45720" cy="6858000"/>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6" name="Footer Placeholder 5"/>
          <p:cNvSpPr>
            <a:spLocks noGrp="1"/>
          </p:cNvSpPr>
          <p:nvPr>
            <p:ph type="ftr" sz="quarter" idx="11"/>
          </p:nvPr>
        </p:nvSpPr>
        <p:spPr>
          <a:xfrm>
            <a:off x="3035808" y="1170432"/>
            <a:ext cx="5193792" cy="201168"/>
          </a:xfrm>
        </p:spPr>
        <p:txBody>
          <a:bodyPr/>
          <a:lstStyle>
            <a:lvl1pPr>
              <a:defRPr>
                <a:solidFill>
                  <a:schemeClr val="bg1">
                    <a:shade val="50000"/>
                  </a:schemeClr>
                </a:solidFill>
              </a:defRPr>
            </a:lvl1pPr>
          </a:lstStyle>
          <a:p>
            <a:endParaRPr lang="en-US"/>
          </a:p>
        </p:txBody>
      </p:sp>
      <p:sp>
        <p:nvSpPr>
          <p:cNvPr id="7" name="Slide Number Placeholder 6"/>
          <p:cNvSpPr>
            <a:spLocks noGrp="1"/>
          </p:cNvSpPr>
          <p:nvPr>
            <p:ph type="sldNum" sz="quarter" idx="12"/>
          </p:nvPr>
        </p:nvSpPr>
        <p:spPr>
          <a:xfrm>
            <a:off x="8339328" y="1170432"/>
            <a:ext cx="733864" cy="201168"/>
          </a:xfrm>
        </p:spPr>
        <p:txBody>
          <a:bodyPr/>
          <a:lstStyle/>
          <a:p>
            <a:fld id="{2846D88B-51DC-4B92-8BCC-3A2996F7DD96}"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74636BEA-13AF-4BAF-8A13-74ECD4896D7E}" type="datetimeFigureOut">
              <a:rPr lang="en-US" smtClean="0"/>
              <a:pPr/>
              <a:t>4/26/2021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846D88B-51DC-4B92-8BCC-3A2996F7DD96}"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9" name="Rectangle 8"/>
          <p:cNvSpPr/>
          <p:nvPr/>
        </p:nvSpPr>
        <p:spPr bwMode="invGray">
          <a:xfrm>
            <a:off x="6598920" y="0"/>
            <a:ext cx="45720" cy="6858000"/>
          </a:xfrm>
          <a:prstGeom prst="rect">
            <a:avLst/>
          </a:prstGeom>
          <a:solidFill>
            <a:srgbClr val="FFFFFF"/>
          </a:solidFill>
          <a:ln w="48000" cap="flat" cmpd="thickThin" algn="ctr">
            <a:noFill/>
            <a:prstDash val="solid"/>
          </a:ln>
          <a:effectLst>
            <a:outerShdw blurRad="31750" dist="10160" dir="108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8" name="Rectangle 7"/>
          <p:cNvSpPr/>
          <p:nvPr/>
        </p:nvSpPr>
        <p:spPr bwMode="ltGray">
          <a:xfrm>
            <a:off x="6647687" y="0"/>
            <a:ext cx="2514601" cy="6858000"/>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2" name="Vertical Title 1"/>
          <p:cNvSpPr>
            <a:spLocks noGrp="1"/>
          </p:cNvSpPr>
          <p:nvPr>
            <p:ph type="title" orient="vert"/>
          </p:nvPr>
        </p:nvSpPr>
        <p:spPr>
          <a:xfrm>
            <a:off x="6781800" y="274640"/>
            <a:ext cx="1905000" cy="5851525"/>
          </a:xfrm>
        </p:spPr>
        <p:txBody>
          <a:bodyPr vert="eaVe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304800"/>
            <a:ext cx="6019800" cy="5851525"/>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74636BEA-13AF-4BAF-8A13-74ECD4896D7E}" type="datetimeFigureOut">
              <a:rPr lang="en-US" smtClean="0"/>
              <a:pPr/>
              <a:t>4/26/2021</a:t>
            </a:fld>
            <a:endParaRPr lang="en-US"/>
          </a:p>
        </p:txBody>
      </p:sp>
      <p:sp>
        <p:nvSpPr>
          <p:cNvPr id="5" name="Footer Placeholder 4"/>
          <p:cNvSpPr>
            <a:spLocks noGrp="1"/>
          </p:cNvSpPr>
          <p:nvPr>
            <p:ph type="ftr" sz="quarter" idx="11"/>
          </p:nvPr>
        </p:nvSpPr>
        <p:spPr>
          <a:xfrm>
            <a:off x="2640597" y="6377459"/>
            <a:ext cx="3836404" cy="365125"/>
          </a:xfrm>
        </p:spPr>
        <p:txBody>
          <a:bodyPr/>
          <a:lstStyle/>
          <a:p>
            <a:endParaRPr lang="en-US"/>
          </a:p>
        </p:txBody>
      </p:sp>
      <p:sp>
        <p:nvSpPr>
          <p:cNvPr id="6" name="Slide Number Placeholder 5"/>
          <p:cNvSpPr>
            <a:spLocks noGrp="1"/>
          </p:cNvSpPr>
          <p:nvPr>
            <p:ph type="sldNum" sz="quarter" idx="12"/>
          </p:nvPr>
        </p:nvSpPr>
        <p:spPr/>
        <p:txBody>
          <a:bodyPr/>
          <a:lstStyle/>
          <a:p>
            <a:fld id="{2846D88B-51DC-4B92-8BCC-3A2996F7DD96}"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bwMode="invGray">
          <a:xfrm>
            <a:off x="0" y="1435895"/>
            <a:ext cx="9144000" cy="45720"/>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7" name="Rectangle 6"/>
          <p:cNvSpPr/>
          <p:nvPr/>
        </p:nvSpPr>
        <p:spPr bwMode="ltGray">
          <a:xfrm>
            <a:off x="0" y="0"/>
            <a:ext cx="9143999" cy="1433733"/>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2" name="Title Placeholder 1"/>
          <p:cNvSpPr>
            <a:spLocks noGrp="1"/>
          </p:cNvSpPr>
          <p:nvPr>
            <p:ph type="title"/>
          </p:nvPr>
        </p:nvSpPr>
        <p:spPr>
          <a:xfrm>
            <a:off x="457200" y="152400"/>
            <a:ext cx="8229600" cy="1251062"/>
          </a:xfrm>
          <a:prstGeom prst="rect">
            <a:avLst/>
          </a:prstGeom>
        </p:spPr>
        <p:txBody>
          <a:bodyPr vert="horz" lIns="91440" rIns="45720" rtlCol="0" anchor="ctr">
            <a:normAutofit/>
            <a:scene3d>
              <a:camera prst="orthographicFront"/>
              <a:lightRig rig="threePt" dir="t">
                <a:rot lat="0" lon="0" rev="4800000"/>
              </a:lightRig>
            </a:scene3d>
            <a:sp3d prstMaterial="matte">
              <a:bevelT w="50800" h="10160"/>
            </a:sp3d>
          </a:bodyPr>
          <a:lstStyle>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775191"/>
            <a:ext cx="8229600" cy="4625609"/>
          </a:xfrm>
          <a:prstGeom prst="rect">
            <a:avLst/>
          </a:prstGeom>
        </p:spPr>
        <p:txBody>
          <a:bodyPr vert="horz" lIns="54864" tIns="91440" rtlCol="0">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4" name="Date Placeholder 3"/>
          <p:cNvSpPr>
            <a:spLocks noGrp="1"/>
          </p:cNvSpPr>
          <p:nvPr>
            <p:ph type="dt" sz="half" idx="2"/>
          </p:nvPr>
        </p:nvSpPr>
        <p:spPr>
          <a:xfrm>
            <a:off x="457200" y="6476999"/>
            <a:ext cx="2133600" cy="274320"/>
          </a:xfrm>
          <a:prstGeom prst="rect">
            <a:avLst/>
          </a:prstGeom>
        </p:spPr>
        <p:txBody>
          <a:bodyPr vert="horz" lIns="109728" rIns="45720" bIns="0" rtlCol="0" anchor="b"/>
          <a:lstStyle>
            <a:lvl1pPr algn="l" eaLnBrk="1" latinLnBrk="0" hangingPunct="1">
              <a:defRPr kumimoji="0" sz="1200">
                <a:solidFill>
                  <a:schemeClr val="tx1">
                    <a:tint val="95000"/>
                  </a:schemeClr>
                </a:solidFill>
              </a:defRPr>
            </a:lvl1pPr>
            <a:extLst/>
          </a:lstStyle>
          <a:p>
            <a:fld id="{74636BEA-13AF-4BAF-8A13-74ECD4896D7E}" type="datetimeFigureOut">
              <a:rPr lang="en-US" smtClean="0"/>
              <a:pPr/>
              <a:t>4/26/2021</a:t>
            </a:fld>
            <a:endParaRPr lang="en-US"/>
          </a:p>
        </p:txBody>
      </p:sp>
      <p:sp>
        <p:nvSpPr>
          <p:cNvPr id="5" name="Footer Placeholder 4"/>
          <p:cNvSpPr>
            <a:spLocks noGrp="1"/>
          </p:cNvSpPr>
          <p:nvPr>
            <p:ph type="ftr" sz="quarter" idx="3"/>
          </p:nvPr>
        </p:nvSpPr>
        <p:spPr>
          <a:xfrm>
            <a:off x="2640596" y="6476999"/>
            <a:ext cx="5507719" cy="274320"/>
          </a:xfrm>
          <a:prstGeom prst="rect">
            <a:avLst/>
          </a:prstGeom>
        </p:spPr>
        <p:txBody>
          <a:bodyPr vert="horz" lIns="45720" rIns="45720" bIns="0" rtlCol="0" anchor="b"/>
          <a:lstStyle>
            <a:lvl1pPr algn="l" eaLnBrk="1" latinLnBrk="0" hangingPunct="1">
              <a:defRPr kumimoji="0" sz="1200">
                <a:solidFill>
                  <a:schemeClr val="tx1">
                    <a:tint val="95000"/>
                  </a:schemeClr>
                </a:solidFill>
              </a:defRPr>
            </a:lvl1pPr>
            <a:extLst/>
          </a:lstStyle>
          <a:p>
            <a:endParaRPr lang="en-US"/>
          </a:p>
        </p:txBody>
      </p:sp>
      <p:sp>
        <p:nvSpPr>
          <p:cNvPr id="6" name="Slide Number Placeholder 5"/>
          <p:cNvSpPr>
            <a:spLocks noGrp="1"/>
          </p:cNvSpPr>
          <p:nvPr>
            <p:ph type="sldNum" sz="quarter" idx="4"/>
          </p:nvPr>
        </p:nvSpPr>
        <p:spPr>
          <a:xfrm>
            <a:off x="8204396" y="6476999"/>
            <a:ext cx="733864" cy="274320"/>
          </a:xfrm>
          <a:prstGeom prst="rect">
            <a:avLst/>
          </a:prstGeom>
        </p:spPr>
        <p:txBody>
          <a:bodyPr vert="horz" bIns="0" rtlCol="0" anchor="b"/>
          <a:lstStyle>
            <a:lvl1pPr algn="r" eaLnBrk="1" latinLnBrk="0" hangingPunct="1">
              <a:defRPr kumimoji="0" sz="1200">
                <a:solidFill>
                  <a:schemeClr val="tx1">
                    <a:tint val="95000"/>
                  </a:schemeClr>
                </a:solidFill>
              </a:defRPr>
            </a:lvl1pPr>
            <a:extLst/>
          </a:lstStyle>
          <a:p>
            <a:fld id="{2846D88B-51DC-4B92-8BCC-3A2996F7DD96}"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Lst>
  <p:txStyles>
    <p:titleStyle>
      <a:lvl1pPr algn="l" rtl="0" eaLnBrk="1" latinLnBrk="0" hangingPunct="1">
        <a:spcBef>
          <a:spcPct val="0"/>
        </a:spcBef>
        <a:buNone/>
        <a:defRPr kumimoji="0" sz="4500" b="1" kern="1200">
          <a:solidFill>
            <a:schemeClr val="accent1">
              <a:satMod val="150000"/>
            </a:schemeClr>
          </a:solidFill>
          <a:effectLst/>
          <a:latin typeface="+mj-lt"/>
          <a:ea typeface="+mj-ea"/>
          <a:cs typeface="+mj-cs"/>
        </a:defRPr>
      </a:lvl1pPr>
      <a:extLst/>
    </p:titleStyle>
    <p:bodyStyle>
      <a:lvl1pPr marL="438912" indent="-320040" algn="l" rtl="0" eaLnBrk="1" latinLnBrk="0" hangingPunct="1">
        <a:spcBef>
          <a:spcPts val="0"/>
        </a:spcBef>
        <a:buClr>
          <a:schemeClr val="accent1"/>
        </a:buClr>
        <a:buSzPct val="80000"/>
        <a:buFont typeface="Wingdings 2"/>
        <a:buChar char=""/>
        <a:defRPr kumimoji="0" sz="3200" kern="1200">
          <a:solidFill>
            <a:schemeClr val="tx1"/>
          </a:solidFill>
          <a:latin typeface="+mn-lt"/>
          <a:ea typeface="+mn-ea"/>
          <a:cs typeface="+mn-cs"/>
        </a:defRPr>
      </a:lvl1pPr>
      <a:lvl2pPr marL="731520" indent="-274320" algn="l" rtl="0" eaLnBrk="1" latinLnBrk="0" hangingPunct="1">
        <a:spcBef>
          <a:spcPct val="20000"/>
        </a:spcBef>
        <a:buClr>
          <a:schemeClr val="accent2"/>
        </a:buClr>
        <a:buSzPct val="90000"/>
        <a:buFont typeface="Wingdings"/>
        <a:buChar char=""/>
        <a:defRPr kumimoji="0" sz="2800" kern="1200">
          <a:solidFill>
            <a:schemeClr val="tx1"/>
          </a:solidFill>
          <a:latin typeface="+mn-lt"/>
          <a:ea typeface="+mn-ea"/>
          <a:cs typeface="+mn-cs"/>
        </a:defRPr>
      </a:lvl2pPr>
      <a:lvl3pPr marL="996696" indent="-228600" algn="l" rtl="0" eaLnBrk="1" latinLnBrk="0" hangingPunct="1">
        <a:spcBef>
          <a:spcPct val="20000"/>
        </a:spcBef>
        <a:buClr>
          <a:schemeClr val="accent3"/>
        </a:buClr>
        <a:buFont typeface="Arial"/>
        <a:buChar char="▪"/>
        <a:defRPr kumimoji="0" sz="2400" kern="1200">
          <a:solidFill>
            <a:schemeClr val="tx1"/>
          </a:solidFill>
          <a:latin typeface="+mn-lt"/>
          <a:ea typeface="+mn-ea"/>
          <a:cs typeface="+mn-cs"/>
        </a:defRPr>
      </a:lvl3pPr>
      <a:lvl4pPr marL="1216152" indent="-182880" algn="l" rtl="0" eaLnBrk="1" latinLnBrk="0" hangingPunct="1">
        <a:spcBef>
          <a:spcPct val="20000"/>
        </a:spcBef>
        <a:buClr>
          <a:schemeClr val="accent4"/>
        </a:buClr>
        <a:buFont typeface="Arial"/>
        <a:buChar char="▪"/>
        <a:defRPr kumimoji="0" sz="2000" kern="1200">
          <a:solidFill>
            <a:schemeClr val="tx1"/>
          </a:solidFill>
          <a:latin typeface="+mn-lt"/>
          <a:ea typeface="+mn-ea"/>
          <a:cs typeface="+mn-cs"/>
        </a:defRPr>
      </a:lvl4pPr>
      <a:lvl5pPr marL="1426464" indent="-182880" algn="l" rtl="0" eaLnBrk="1" latinLnBrk="0" hangingPunct="1">
        <a:spcBef>
          <a:spcPct val="20000"/>
        </a:spcBef>
        <a:buClr>
          <a:schemeClr val="accent5"/>
        </a:buClr>
        <a:buFont typeface="Wingdings 3"/>
        <a:buChar char=""/>
        <a:defRPr kumimoji="0" lang="en-US" sz="2000" kern="1200" smtClean="0">
          <a:solidFill>
            <a:schemeClr val="tx1"/>
          </a:solidFill>
          <a:latin typeface="+mn-lt"/>
          <a:ea typeface="+mn-ea"/>
          <a:cs typeface="+mn-cs"/>
        </a:defRPr>
      </a:lvl5pPr>
      <a:lvl6pPr marL="1627632" indent="-182880" algn="l" rtl="0" eaLnBrk="1" latinLnBrk="0" hangingPunct="1">
        <a:spcBef>
          <a:spcPct val="20000"/>
        </a:spcBef>
        <a:buClr>
          <a:schemeClr val="accent6"/>
        </a:buClr>
        <a:buSzPct val="100000"/>
        <a:buFont typeface="Wingdings 2"/>
        <a:buChar char=""/>
        <a:defRPr kumimoji="0" sz="2000" kern="1200">
          <a:solidFill>
            <a:schemeClr val="tx1"/>
          </a:solidFill>
          <a:latin typeface="+mn-lt"/>
          <a:ea typeface="+mn-ea"/>
          <a:cs typeface="+mn-cs"/>
        </a:defRPr>
      </a:lvl6pPr>
      <a:lvl7pPr marL="1828800" indent="-182880" algn="l" rtl="0" eaLnBrk="1" latinLnBrk="0" hangingPunct="1">
        <a:spcBef>
          <a:spcPct val="20000"/>
        </a:spcBef>
        <a:buClr>
          <a:schemeClr val="accent1"/>
        </a:buClr>
        <a:buSzPct val="100000"/>
        <a:buFont typeface="Wingdings 2"/>
        <a:buChar char=""/>
        <a:defRPr kumimoji="0" sz="1800" kern="1200">
          <a:solidFill>
            <a:schemeClr val="tx1"/>
          </a:solidFill>
          <a:latin typeface="+mn-lt"/>
          <a:ea typeface="+mn-ea"/>
          <a:cs typeface="+mn-cs"/>
        </a:defRPr>
      </a:lvl7pPr>
      <a:lvl8pPr marL="2029968" indent="-182880" algn="l" rtl="0" eaLnBrk="1" latinLnBrk="0" hangingPunct="1">
        <a:spcBef>
          <a:spcPct val="20000"/>
        </a:spcBef>
        <a:buClr>
          <a:schemeClr val="accent2"/>
        </a:buClr>
        <a:buFont typeface="Wingdings 2" pitchFamily="18" charset="2"/>
        <a:buChar char=""/>
        <a:defRPr kumimoji="0" sz="1800" kern="1200">
          <a:solidFill>
            <a:schemeClr val="tx1"/>
          </a:solidFill>
          <a:latin typeface="+mn-lt"/>
          <a:ea typeface="+mn-ea"/>
          <a:cs typeface="+mn-cs"/>
        </a:defRPr>
      </a:lvl8pPr>
      <a:lvl9pPr marL="2231136" indent="-182880" algn="l" rtl="0" eaLnBrk="1" latinLnBrk="0" hangingPunct="1">
        <a:spcBef>
          <a:spcPct val="20000"/>
        </a:spcBef>
        <a:buClr>
          <a:schemeClr val="accent3"/>
        </a:buClr>
        <a:buFont typeface="Wingdings 2" pitchFamily="18" charset="2"/>
        <a:buChar char=""/>
        <a:defRPr kumimoji="0" sz="18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5.xml"/><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286000"/>
            <a:ext cx="8077200" cy="1673352"/>
          </a:xfrm>
        </p:spPr>
        <p:txBody>
          <a:bodyPr/>
          <a:lstStyle/>
          <a:p>
            <a:r>
              <a:rPr lang="en-US" b="1" dirty="0"/>
              <a:t>Problem Statement - Part </a:t>
            </a:r>
            <a:r>
              <a:rPr lang="en-US" b="1" dirty="0" smtClean="0"/>
              <a:t>II</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Question 1</a:t>
            </a:r>
            <a:r>
              <a:rPr lang="en-US" dirty="0" smtClean="0"/>
              <a:t/>
            </a:r>
            <a:br>
              <a:rPr lang="en-US" dirty="0" smtClean="0"/>
            </a:br>
            <a:endParaRPr lang="en-US" dirty="0"/>
          </a:p>
        </p:txBody>
      </p:sp>
      <p:sp>
        <p:nvSpPr>
          <p:cNvPr id="3" name="Content Placeholder 2"/>
          <p:cNvSpPr>
            <a:spLocks noGrp="1"/>
          </p:cNvSpPr>
          <p:nvPr>
            <p:ph idx="1"/>
          </p:nvPr>
        </p:nvSpPr>
        <p:spPr/>
        <p:txBody>
          <a:bodyPr/>
          <a:lstStyle/>
          <a:p>
            <a:pPr>
              <a:buNone/>
            </a:pPr>
            <a:r>
              <a:rPr lang="en-US" dirty="0" smtClean="0"/>
              <a:t>What </a:t>
            </a:r>
            <a:r>
              <a:rPr lang="en-US" dirty="0"/>
              <a:t>is the optimal value of alpha for ridge and lasso regression? What will be the changes in the model if you choose double the value of alpha for both ridge and lasso? What will be the most important predictor variables after the change is implemented?</a:t>
            </a:r>
          </a:p>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Answer</a:t>
            </a:r>
            <a:endParaRPr lang="en-US" dirty="0"/>
          </a:p>
        </p:txBody>
      </p:sp>
      <p:sp>
        <p:nvSpPr>
          <p:cNvPr id="3" name="Content Placeholder 2"/>
          <p:cNvSpPr>
            <a:spLocks noGrp="1"/>
          </p:cNvSpPr>
          <p:nvPr>
            <p:ph idx="1"/>
          </p:nvPr>
        </p:nvSpPr>
        <p:spPr/>
        <p:txBody>
          <a:bodyPr>
            <a:normAutofit fontScale="85000" lnSpcReduction="20000"/>
          </a:bodyPr>
          <a:lstStyle/>
          <a:p>
            <a:pPr>
              <a:buNone/>
            </a:pPr>
            <a:r>
              <a:rPr lang="en-US" dirty="0" smtClean="0"/>
              <a:t>Optimal value of alpha :-</a:t>
            </a:r>
          </a:p>
          <a:p>
            <a:r>
              <a:rPr lang="en-US" dirty="0" smtClean="0"/>
              <a:t>Best Alpha value for Lasso : 0.001</a:t>
            </a:r>
          </a:p>
          <a:p>
            <a:r>
              <a:rPr lang="en-US" dirty="0" smtClean="0"/>
              <a:t>Best Alpha value for Ridge : 0.9</a:t>
            </a:r>
          </a:p>
          <a:p>
            <a:pPr>
              <a:buNone/>
            </a:pPr>
            <a:endParaRPr lang="en-US" dirty="0" smtClean="0"/>
          </a:p>
          <a:p>
            <a:endParaRPr lang="en-US" dirty="0"/>
          </a:p>
          <a:p>
            <a:pPr>
              <a:buNone/>
            </a:pPr>
            <a:r>
              <a:rPr lang="en-US" dirty="0" smtClean="0"/>
              <a:t>After comparing both the model we can see that the below Features are best explaining the Dataset</a:t>
            </a:r>
          </a:p>
          <a:p>
            <a:r>
              <a:rPr lang="en-US" dirty="0" smtClean="0"/>
              <a:t>1)</a:t>
            </a:r>
            <a:r>
              <a:rPr lang="en-US" dirty="0" err="1" smtClean="0"/>
              <a:t>MiscVal</a:t>
            </a:r>
            <a:r>
              <a:rPr lang="en-US" dirty="0" smtClean="0"/>
              <a:t>      : $Value of miscellaneous feature </a:t>
            </a:r>
          </a:p>
          <a:p>
            <a:r>
              <a:rPr lang="en-US" dirty="0" smtClean="0"/>
              <a:t>2)</a:t>
            </a:r>
            <a:r>
              <a:rPr lang="en-US" dirty="0" err="1" smtClean="0"/>
              <a:t>BsmtHalfBath</a:t>
            </a:r>
            <a:r>
              <a:rPr lang="en-US" dirty="0" smtClean="0"/>
              <a:t> : Basement half bathrooms</a:t>
            </a:r>
          </a:p>
          <a:p>
            <a:r>
              <a:rPr lang="en-US" dirty="0" smtClean="0"/>
              <a:t>3)</a:t>
            </a:r>
            <a:r>
              <a:rPr lang="en-US" dirty="0" err="1" smtClean="0"/>
              <a:t>LowQualFinSF</a:t>
            </a:r>
            <a:r>
              <a:rPr lang="en-US" dirty="0" smtClean="0"/>
              <a:t> : Low quality finished square feet (all floors)</a:t>
            </a:r>
          </a:p>
          <a:p>
            <a:r>
              <a:rPr lang="en-US" dirty="0" smtClean="0"/>
              <a:t>4)</a:t>
            </a:r>
            <a:r>
              <a:rPr lang="en-US" dirty="0" err="1" smtClean="0"/>
              <a:t>BsmtFullBath</a:t>
            </a:r>
            <a:r>
              <a:rPr lang="en-US" dirty="0" smtClean="0"/>
              <a:t> : Basement full bathrooms</a:t>
            </a:r>
          </a:p>
          <a:p>
            <a:r>
              <a:rPr lang="en-US" dirty="0" smtClean="0"/>
              <a:t>5)</a:t>
            </a:r>
            <a:r>
              <a:rPr lang="en-US" dirty="0" err="1" smtClean="0"/>
              <a:t>HalfBath</a:t>
            </a:r>
            <a:r>
              <a:rPr lang="en-US" dirty="0" smtClean="0"/>
              <a:t>     : Half baths above grade</a:t>
            </a:r>
          </a:p>
          <a:p>
            <a:pPr>
              <a:buNone/>
            </a:pP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28600" y="457200"/>
            <a:ext cx="8763000" cy="1219200"/>
          </a:xfrm>
        </p:spPr>
        <p:txBody>
          <a:bodyPr>
            <a:normAutofit fontScale="90000"/>
          </a:bodyPr>
          <a:lstStyle/>
          <a:p>
            <a:r>
              <a:rPr lang="en-US" sz="2200" b="1" dirty="0" smtClean="0"/>
              <a:t>Changes in the model if you choose double the value of alpha for both ridge and lasso:- </a:t>
            </a:r>
            <a:r>
              <a:rPr lang="en-US" sz="2000" i="1" dirty="0" smtClean="0"/>
              <a:t>As lambda value increases further, we notice that the model starts underfitting. </a:t>
            </a:r>
            <a:br>
              <a:rPr lang="en-US" sz="2000" i="1" dirty="0" smtClean="0"/>
            </a:br>
            <a:r>
              <a:rPr lang="en-US" sz="2000" i="1" dirty="0" smtClean="0"/>
              <a:t>This can be seen by the decrease in R-squared value decreases for the train data and increases for test data</a:t>
            </a:r>
            <a:r>
              <a:rPr lang="en-US" dirty="0" smtClean="0"/>
              <a:t/>
            </a:r>
            <a:br>
              <a:rPr lang="en-US" dirty="0" smtClean="0"/>
            </a:br>
            <a:endParaRPr lang="en-US" dirty="0"/>
          </a:p>
        </p:txBody>
      </p:sp>
      <p:sp>
        <p:nvSpPr>
          <p:cNvPr id="5" name="Text Placeholder 4"/>
          <p:cNvSpPr>
            <a:spLocks noGrp="1"/>
          </p:cNvSpPr>
          <p:nvPr>
            <p:ph type="body" idx="1"/>
          </p:nvPr>
        </p:nvSpPr>
        <p:spPr>
          <a:xfrm>
            <a:off x="228600" y="1600200"/>
            <a:ext cx="4040188" cy="639762"/>
          </a:xfrm>
        </p:spPr>
        <p:txBody>
          <a:bodyPr>
            <a:normAutofit fontScale="85000" lnSpcReduction="20000"/>
          </a:bodyPr>
          <a:lstStyle/>
          <a:p>
            <a:r>
              <a:rPr lang="en-US" dirty="0" smtClean="0">
                <a:latin typeface="Calibri" pitchFamily="34" charset="0"/>
                <a:cs typeface="Calibri" pitchFamily="34" charset="0"/>
              </a:rPr>
              <a:t>Ridge Regression: Before &amp; After</a:t>
            </a:r>
            <a:endParaRPr lang="en-US" dirty="0">
              <a:latin typeface="Calibri" pitchFamily="34" charset="0"/>
              <a:cs typeface="Calibri" pitchFamily="34" charset="0"/>
            </a:endParaRPr>
          </a:p>
        </p:txBody>
      </p:sp>
      <p:sp>
        <p:nvSpPr>
          <p:cNvPr id="7" name="Text Placeholder 6"/>
          <p:cNvSpPr>
            <a:spLocks noGrp="1"/>
          </p:cNvSpPr>
          <p:nvPr>
            <p:ph type="body" sz="quarter" idx="3"/>
          </p:nvPr>
        </p:nvSpPr>
        <p:spPr>
          <a:xfrm>
            <a:off x="4648200" y="1600200"/>
            <a:ext cx="4041775" cy="715355"/>
          </a:xfrm>
        </p:spPr>
        <p:txBody>
          <a:bodyPr>
            <a:normAutofit fontScale="92500" lnSpcReduction="10000"/>
          </a:bodyPr>
          <a:lstStyle/>
          <a:p>
            <a:r>
              <a:rPr lang="en-US" dirty="0" smtClean="0">
                <a:latin typeface="Calibri" pitchFamily="34" charset="0"/>
                <a:cs typeface="Calibri" pitchFamily="34" charset="0"/>
              </a:rPr>
              <a:t>Lasso Regression: Before &amp; After</a:t>
            </a:r>
            <a:endParaRPr lang="en-US" dirty="0">
              <a:latin typeface="Calibri" pitchFamily="34" charset="0"/>
              <a:cs typeface="Calibri" pitchFamily="34" charset="0"/>
            </a:endParaRPr>
          </a:p>
        </p:txBody>
      </p:sp>
      <p:pic>
        <p:nvPicPr>
          <p:cNvPr id="1029" name="Picture 5"/>
          <p:cNvPicPr>
            <a:picLocks noChangeAspect="1" noChangeArrowheads="1"/>
          </p:cNvPicPr>
          <p:nvPr/>
        </p:nvPicPr>
        <p:blipFill>
          <a:blip r:embed="rId2"/>
          <a:srcRect/>
          <a:stretch>
            <a:fillRect/>
          </a:stretch>
        </p:blipFill>
        <p:spPr bwMode="auto">
          <a:xfrm>
            <a:off x="152400" y="4495800"/>
            <a:ext cx="4267200" cy="2209800"/>
          </a:xfrm>
          <a:prstGeom prst="rect">
            <a:avLst/>
          </a:prstGeom>
          <a:noFill/>
          <a:ln w="9525">
            <a:noFill/>
            <a:miter lim="800000"/>
            <a:headEnd/>
            <a:tailEnd/>
          </a:ln>
          <a:effectLst/>
        </p:spPr>
      </p:pic>
      <p:pic>
        <p:nvPicPr>
          <p:cNvPr id="1030" name="Picture 6"/>
          <p:cNvPicPr>
            <a:picLocks noChangeAspect="1" noChangeArrowheads="1"/>
          </p:cNvPicPr>
          <p:nvPr/>
        </p:nvPicPr>
        <p:blipFill>
          <a:blip r:embed="rId3"/>
          <a:srcRect/>
          <a:stretch>
            <a:fillRect/>
          </a:stretch>
        </p:blipFill>
        <p:spPr bwMode="auto">
          <a:xfrm>
            <a:off x="152400" y="2362200"/>
            <a:ext cx="4362450" cy="1981200"/>
          </a:xfrm>
          <a:prstGeom prst="rect">
            <a:avLst/>
          </a:prstGeom>
          <a:noFill/>
          <a:ln w="9525">
            <a:noFill/>
            <a:miter lim="800000"/>
            <a:headEnd/>
            <a:tailEnd/>
          </a:ln>
          <a:effectLst/>
        </p:spPr>
      </p:pic>
      <p:pic>
        <p:nvPicPr>
          <p:cNvPr id="1031" name="Picture 7"/>
          <p:cNvPicPr>
            <a:picLocks noChangeAspect="1" noChangeArrowheads="1"/>
          </p:cNvPicPr>
          <p:nvPr/>
        </p:nvPicPr>
        <p:blipFill>
          <a:blip r:embed="rId4"/>
          <a:srcRect/>
          <a:stretch>
            <a:fillRect/>
          </a:stretch>
        </p:blipFill>
        <p:spPr bwMode="auto">
          <a:xfrm>
            <a:off x="4724400" y="2362200"/>
            <a:ext cx="4191000" cy="1981200"/>
          </a:xfrm>
          <a:prstGeom prst="rect">
            <a:avLst/>
          </a:prstGeom>
          <a:noFill/>
          <a:ln w="9525">
            <a:noFill/>
            <a:miter lim="800000"/>
            <a:headEnd/>
            <a:tailEnd/>
          </a:ln>
          <a:effectLst/>
        </p:spPr>
      </p:pic>
      <p:pic>
        <p:nvPicPr>
          <p:cNvPr id="1032" name="Picture 8"/>
          <p:cNvPicPr>
            <a:picLocks noChangeAspect="1" noChangeArrowheads="1"/>
          </p:cNvPicPr>
          <p:nvPr/>
        </p:nvPicPr>
        <p:blipFill>
          <a:blip r:embed="rId5"/>
          <a:srcRect/>
          <a:stretch>
            <a:fillRect/>
          </a:stretch>
        </p:blipFill>
        <p:spPr bwMode="auto">
          <a:xfrm>
            <a:off x="4572000" y="4343401"/>
            <a:ext cx="4419600" cy="2286000"/>
          </a:xfrm>
          <a:prstGeom prst="rect">
            <a:avLst/>
          </a:prstGeom>
          <a:noFill/>
          <a:ln w="9525">
            <a:noFill/>
            <a:miter lim="800000"/>
            <a:headEnd/>
            <a:tailEnd/>
          </a:ln>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Question 2</a:t>
            </a:r>
            <a:r>
              <a:rPr lang="en-US" dirty="0" smtClean="0"/>
              <a:t/>
            </a:r>
            <a:br>
              <a:rPr lang="en-US" dirty="0" smtClean="0"/>
            </a:br>
            <a:endParaRPr lang="en-US" dirty="0"/>
          </a:p>
        </p:txBody>
      </p:sp>
      <p:sp>
        <p:nvSpPr>
          <p:cNvPr id="3" name="Content Placeholder 2"/>
          <p:cNvSpPr>
            <a:spLocks noGrp="1"/>
          </p:cNvSpPr>
          <p:nvPr>
            <p:ph idx="1"/>
          </p:nvPr>
        </p:nvSpPr>
        <p:spPr/>
        <p:txBody>
          <a:bodyPr/>
          <a:lstStyle/>
          <a:p>
            <a:pPr>
              <a:buNone/>
            </a:pPr>
            <a:r>
              <a:rPr lang="en-US" dirty="0" smtClean="0"/>
              <a:t>You </a:t>
            </a:r>
            <a:r>
              <a:rPr lang="en-US" dirty="0"/>
              <a:t>have determined the optimal value of lambda for ridge and lasso regression during the assignment. Now, which one will you choose to apply and why?</a:t>
            </a:r>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Answer</a:t>
            </a:r>
            <a:endParaRPr lang="en-US" dirty="0"/>
          </a:p>
        </p:txBody>
      </p:sp>
      <p:sp>
        <p:nvSpPr>
          <p:cNvPr id="3" name="Content Placeholder 2"/>
          <p:cNvSpPr>
            <a:spLocks noGrp="1"/>
          </p:cNvSpPr>
          <p:nvPr>
            <p:ph idx="1"/>
          </p:nvPr>
        </p:nvSpPr>
        <p:spPr/>
        <p:txBody>
          <a:bodyPr/>
          <a:lstStyle/>
          <a:p>
            <a:pPr>
              <a:buNone/>
            </a:pPr>
            <a:r>
              <a:rPr lang="en-US" dirty="0" smtClean="0"/>
              <a:t>Even though the </a:t>
            </a:r>
            <a:r>
              <a:rPr lang="en-US" dirty="0" smtClean="0"/>
              <a:t>R </a:t>
            </a:r>
            <a:r>
              <a:rPr lang="en-US" dirty="0" err="1" smtClean="0"/>
              <a:t>Squared_scores</a:t>
            </a:r>
            <a:r>
              <a:rPr lang="en-US" dirty="0" smtClean="0"/>
              <a:t> </a:t>
            </a:r>
            <a:r>
              <a:rPr lang="en-US" dirty="0" smtClean="0"/>
              <a:t>are almost same for both Lasso &amp; Ridge Regression, Lasso Regression Model is selected:-</a:t>
            </a:r>
          </a:p>
          <a:p>
            <a:r>
              <a:rPr lang="en-US" dirty="0" smtClean="0"/>
              <a:t>Lasso will penalize more on the dataset</a:t>
            </a:r>
          </a:p>
          <a:p>
            <a:r>
              <a:rPr lang="en-US" dirty="0" smtClean="0"/>
              <a:t>Help in feature </a:t>
            </a:r>
            <a:r>
              <a:rPr lang="en-US" dirty="0" err="1" smtClean="0"/>
              <a:t>elemination</a:t>
            </a:r>
            <a:r>
              <a:rPr lang="en-US" dirty="0" smtClean="0"/>
              <a:t> Lasso Regression Model is selected</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Question 3</a:t>
            </a:r>
            <a:r>
              <a:rPr lang="en-US" dirty="0" smtClean="0"/>
              <a:t/>
            </a:r>
            <a:br>
              <a:rPr lang="en-US" dirty="0" smtClean="0"/>
            </a:br>
            <a:endParaRPr lang="en-US" dirty="0"/>
          </a:p>
        </p:txBody>
      </p:sp>
      <p:sp>
        <p:nvSpPr>
          <p:cNvPr id="3" name="Content Placeholder 2"/>
          <p:cNvSpPr>
            <a:spLocks noGrp="1"/>
          </p:cNvSpPr>
          <p:nvPr>
            <p:ph idx="1"/>
          </p:nvPr>
        </p:nvSpPr>
        <p:spPr/>
        <p:txBody>
          <a:bodyPr/>
          <a:lstStyle/>
          <a:p>
            <a:pPr>
              <a:buNone/>
            </a:pPr>
            <a:endParaRPr lang="en-US" dirty="0"/>
          </a:p>
          <a:p>
            <a:r>
              <a:rPr lang="en-US" dirty="0"/>
              <a:t>After building the model, you </a:t>
            </a:r>
            <a:r>
              <a:rPr lang="en-US" dirty="0" smtClean="0"/>
              <a:t>realized </a:t>
            </a:r>
            <a:r>
              <a:rPr lang="en-US" dirty="0"/>
              <a:t>that the five most important predictor variables in the lasso model are not available in the incoming data. You will now have to create another model excluding the five most important predictor variables. Which are the five most important predictor variables now?</a:t>
            </a:r>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Answer</a:t>
            </a:r>
            <a:endParaRPr lang="en-US" dirty="0"/>
          </a:p>
        </p:txBody>
      </p:sp>
      <p:sp>
        <p:nvSpPr>
          <p:cNvPr id="3" name="Content Placeholder 2"/>
          <p:cNvSpPr>
            <a:spLocks noGrp="1"/>
          </p:cNvSpPr>
          <p:nvPr>
            <p:ph idx="1"/>
          </p:nvPr>
        </p:nvSpPr>
        <p:spPr>
          <a:xfrm>
            <a:off x="0" y="1447801"/>
            <a:ext cx="5486400" cy="2133599"/>
          </a:xfrm>
          <a:solidFill>
            <a:schemeClr val="accent1">
              <a:alpha val="12000"/>
            </a:schemeClr>
          </a:solidFill>
          <a:ln>
            <a:solidFill>
              <a:schemeClr val="tx1"/>
            </a:solidFill>
          </a:ln>
        </p:spPr>
        <p:txBody>
          <a:bodyPr>
            <a:normAutofit lnSpcReduction="10000"/>
          </a:bodyPr>
          <a:lstStyle/>
          <a:p>
            <a:r>
              <a:rPr lang="en-US" sz="2000" b="1" dirty="0" smtClean="0">
                <a:latin typeface="Calibri" pitchFamily="34" charset="0"/>
                <a:cs typeface="Calibri" pitchFamily="34" charset="0"/>
              </a:rPr>
              <a:t>BsmtFinType1:</a:t>
            </a:r>
            <a:r>
              <a:rPr lang="en-US" sz="2000" dirty="0" smtClean="0">
                <a:latin typeface="Calibri" pitchFamily="34" charset="0"/>
                <a:cs typeface="Calibri" pitchFamily="34" charset="0"/>
              </a:rPr>
              <a:t>Rating of basement finished area</a:t>
            </a:r>
          </a:p>
          <a:p>
            <a:r>
              <a:rPr lang="en-US" sz="2000" b="1" dirty="0" err="1" smtClean="0">
                <a:latin typeface="Calibri" pitchFamily="34" charset="0"/>
                <a:cs typeface="Calibri" pitchFamily="34" charset="0"/>
              </a:rPr>
              <a:t>Neighborhood_Gilbert</a:t>
            </a:r>
            <a:r>
              <a:rPr lang="en-US" sz="2000" b="1" dirty="0" smtClean="0">
                <a:latin typeface="Calibri" pitchFamily="34" charset="0"/>
                <a:cs typeface="Calibri" pitchFamily="34" charset="0"/>
              </a:rPr>
              <a:t>: </a:t>
            </a:r>
            <a:r>
              <a:rPr lang="en-US" sz="2000" dirty="0" smtClean="0">
                <a:latin typeface="Calibri" pitchFamily="34" charset="0"/>
                <a:cs typeface="Calibri" pitchFamily="34" charset="0"/>
              </a:rPr>
              <a:t>Physical locations within Ames city limit()</a:t>
            </a:r>
          </a:p>
          <a:p>
            <a:r>
              <a:rPr lang="en-US" sz="2000" b="1" dirty="0" err="1" smtClean="0">
                <a:latin typeface="Calibri" pitchFamily="34" charset="0"/>
                <a:cs typeface="Calibri" pitchFamily="34" charset="0"/>
              </a:rPr>
              <a:t>LotShape</a:t>
            </a:r>
            <a:r>
              <a:rPr lang="en-US" sz="2000" b="1" dirty="0" smtClean="0">
                <a:latin typeface="Calibri" pitchFamily="34" charset="0"/>
                <a:cs typeface="Calibri" pitchFamily="34" charset="0"/>
              </a:rPr>
              <a:t> : </a:t>
            </a:r>
            <a:r>
              <a:rPr lang="en-US" sz="2000" dirty="0" smtClean="0">
                <a:latin typeface="Calibri" pitchFamily="34" charset="0"/>
                <a:cs typeface="Calibri" pitchFamily="34" charset="0"/>
              </a:rPr>
              <a:t>General shape of property</a:t>
            </a:r>
          </a:p>
          <a:p>
            <a:r>
              <a:rPr lang="en-US" sz="2000" b="1" dirty="0" err="1" smtClean="0">
                <a:latin typeface="Calibri" pitchFamily="34" charset="0"/>
                <a:cs typeface="Calibri" pitchFamily="34" charset="0"/>
              </a:rPr>
              <a:t>HeatingQC</a:t>
            </a:r>
            <a:r>
              <a:rPr lang="en-US" sz="2000" b="1" dirty="0" smtClean="0">
                <a:latin typeface="Calibri" pitchFamily="34" charset="0"/>
                <a:cs typeface="Calibri" pitchFamily="34" charset="0"/>
              </a:rPr>
              <a:t> : </a:t>
            </a:r>
            <a:r>
              <a:rPr lang="en-US" sz="2000" dirty="0" smtClean="0">
                <a:latin typeface="Calibri" pitchFamily="34" charset="0"/>
                <a:cs typeface="Calibri" pitchFamily="34" charset="0"/>
              </a:rPr>
              <a:t>Heating quality and condition</a:t>
            </a:r>
          </a:p>
          <a:p>
            <a:r>
              <a:rPr lang="en-US" sz="2000" b="1" dirty="0" err="1" smtClean="0">
                <a:latin typeface="Calibri" pitchFamily="34" charset="0"/>
                <a:cs typeface="Calibri" pitchFamily="34" charset="0"/>
              </a:rPr>
              <a:t>LandContour_HLSe</a:t>
            </a:r>
            <a:r>
              <a:rPr lang="en-US" sz="2000" b="1" dirty="0" smtClean="0">
                <a:latin typeface="Calibri" pitchFamily="34" charset="0"/>
                <a:cs typeface="Calibri" pitchFamily="34" charset="0"/>
              </a:rPr>
              <a:t> </a:t>
            </a:r>
            <a:r>
              <a:rPr lang="en-US" sz="2000" dirty="0" smtClean="0">
                <a:latin typeface="Calibri" pitchFamily="34" charset="0"/>
                <a:cs typeface="Calibri" pitchFamily="34" charset="0"/>
              </a:rPr>
              <a:t>: Flatness of the </a:t>
            </a:r>
            <a:r>
              <a:rPr lang="en-US" sz="2000" dirty="0" smtClean="0">
                <a:latin typeface="Calibri" pitchFamily="34" charset="0"/>
                <a:cs typeface="Calibri" pitchFamily="34" charset="0"/>
              </a:rPr>
              <a:t>property</a:t>
            </a:r>
          </a:p>
          <a:p>
            <a:endParaRPr lang="en-US" sz="2000" dirty="0">
              <a:latin typeface="Calibri" pitchFamily="34" charset="0"/>
              <a:cs typeface="Calibri" pitchFamily="34" charset="0"/>
            </a:endParaRPr>
          </a:p>
        </p:txBody>
      </p:sp>
      <p:pic>
        <p:nvPicPr>
          <p:cNvPr id="2050" name="Picture 2"/>
          <p:cNvPicPr>
            <a:picLocks noChangeAspect="1" noChangeArrowheads="1"/>
          </p:cNvPicPr>
          <p:nvPr/>
        </p:nvPicPr>
        <p:blipFill>
          <a:blip r:embed="rId2"/>
          <a:srcRect/>
          <a:stretch>
            <a:fillRect/>
          </a:stretch>
        </p:blipFill>
        <p:spPr bwMode="auto">
          <a:xfrm>
            <a:off x="5381625" y="2286000"/>
            <a:ext cx="3762375" cy="4419600"/>
          </a:xfrm>
          <a:prstGeom prst="rect">
            <a:avLst/>
          </a:prstGeom>
          <a:noFill/>
          <a:ln w="9525">
            <a:noFill/>
            <a:miter lim="800000"/>
            <a:headEnd/>
            <a:tailEnd/>
          </a:ln>
          <a:effectLst/>
        </p:spPr>
      </p:pic>
      <p:sp>
        <p:nvSpPr>
          <p:cNvPr id="6" name="TextBox 5"/>
          <p:cNvSpPr txBox="1"/>
          <p:nvPr/>
        </p:nvSpPr>
        <p:spPr>
          <a:xfrm>
            <a:off x="5867400" y="1676400"/>
            <a:ext cx="2743200" cy="954107"/>
          </a:xfrm>
          <a:prstGeom prst="rect">
            <a:avLst/>
          </a:prstGeom>
          <a:noFill/>
        </p:spPr>
        <p:txBody>
          <a:bodyPr wrap="square" rtlCol="0">
            <a:spAutoFit/>
          </a:bodyPr>
          <a:lstStyle/>
          <a:p>
            <a:r>
              <a:rPr lang="en-US" sz="2000" b="1" dirty="0" smtClean="0">
                <a:latin typeface="Calibri" pitchFamily="34" charset="0"/>
                <a:cs typeface="Calibri" pitchFamily="34" charset="0"/>
              </a:rPr>
              <a:t>Lasso Regression Model</a:t>
            </a:r>
          </a:p>
          <a:p>
            <a:endParaRPr lang="en-US" dirty="0" smtClean="0"/>
          </a:p>
          <a:p>
            <a:endParaRPr lang="en-US" dirty="0"/>
          </a:p>
        </p:txBody>
      </p:sp>
      <p:sp>
        <p:nvSpPr>
          <p:cNvPr id="8" name="TextBox 7"/>
          <p:cNvSpPr txBox="1"/>
          <p:nvPr/>
        </p:nvSpPr>
        <p:spPr>
          <a:xfrm>
            <a:off x="3505200" y="3733800"/>
            <a:ext cx="1676400" cy="2862322"/>
          </a:xfrm>
          <a:prstGeom prst="rect">
            <a:avLst/>
          </a:prstGeom>
          <a:solidFill>
            <a:schemeClr val="accent1">
              <a:alpha val="39000"/>
            </a:schemeClr>
          </a:solidFill>
          <a:ln>
            <a:solidFill>
              <a:schemeClr val="tx1"/>
            </a:solidFill>
          </a:ln>
        </p:spPr>
        <p:txBody>
          <a:bodyPr wrap="square" rtlCol="0">
            <a:spAutoFit/>
          </a:bodyPr>
          <a:lstStyle/>
          <a:p>
            <a:r>
              <a:rPr lang="en-US" dirty="0" smtClean="0"/>
              <a:t>F</a:t>
            </a:r>
            <a:r>
              <a:rPr lang="en-US" dirty="0" smtClean="0"/>
              <a:t>ive </a:t>
            </a:r>
            <a:r>
              <a:rPr lang="en-US" dirty="0" smtClean="0"/>
              <a:t>most important predictor variables in the lasso model are not available in the incoming </a:t>
            </a:r>
            <a:r>
              <a:rPr lang="en-US" dirty="0" smtClean="0"/>
              <a:t>data. After  removing those-</a:t>
            </a:r>
            <a:endParaRPr lang="en-US" dirty="0"/>
          </a:p>
        </p:txBody>
      </p:sp>
      <p:sp>
        <p:nvSpPr>
          <p:cNvPr id="9" name="Right Arrow 8"/>
          <p:cNvSpPr/>
          <p:nvPr/>
        </p:nvSpPr>
        <p:spPr>
          <a:xfrm>
            <a:off x="5181600" y="4648200"/>
            <a:ext cx="304800" cy="457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1" name="Picture 3"/>
          <p:cNvPicPr>
            <a:picLocks noChangeAspect="1" noChangeArrowheads="1"/>
          </p:cNvPicPr>
          <p:nvPr/>
        </p:nvPicPr>
        <p:blipFill>
          <a:blip r:embed="rId3"/>
          <a:srcRect/>
          <a:stretch>
            <a:fillRect/>
          </a:stretch>
        </p:blipFill>
        <p:spPr bwMode="auto">
          <a:xfrm>
            <a:off x="0" y="4038599"/>
            <a:ext cx="3505200" cy="2819401"/>
          </a:xfrm>
          <a:prstGeom prst="rect">
            <a:avLst/>
          </a:prstGeom>
          <a:noFill/>
          <a:ln w="9525">
            <a:noFill/>
            <a:miter lim="800000"/>
            <a:headEnd/>
            <a:tailEnd/>
          </a:ln>
          <a:effectLst/>
        </p:spPr>
      </p:pic>
      <p:sp>
        <p:nvSpPr>
          <p:cNvPr id="11" name="TextBox 10"/>
          <p:cNvSpPr txBox="1"/>
          <p:nvPr/>
        </p:nvSpPr>
        <p:spPr>
          <a:xfrm>
            <a:off x="152400" y="3657600"/>
            <a:ext cx="1905000" cy="646331"/>
          </a:xfrm>
          <a:prstGeom prst="rect">
            <a:avLst/>
          </a:prstGeom>
          <a:noFill/>
        </p:spPr>
        <p:txBody>
          <a:bodyPr wrap="square" rtlCol="0">
            <a:spAutoFit/>
          </a:bodyPr>
          <a:lstStyle/>
          <a:p>
            <a:pPr algn="ctr"/>
            <a:r>
              <a:rPr lang="en-US" b="1" dirty="0" smtClean="0">
                <a:latin typeface="Calibri" pitchFamily="34" charset="0"/>
                <a:cs typeface="Calibri" pitchFamily="34" charset="0"/>
              </a:rPr>
              <a:t>Ridge Regression Model</a:t>
            </a:r>
            <a:endParaRPr lang="en-US" b="1" dirty="0">
              <a:latin typeface="Calibri" pitchFamily="34" charset="0"/>
              <a:cs typeface="Calibri"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Question 4</a:t>
            </a:r>
            <a:r>
              <a:rPr lang="en-US" dirty="0" smtClean="0"/>
              <a:t/>
            </a:r>
            <a:br>
              <a:rPr lang="en-US" dirty="0" smtClean="0"/>
            </a:br>
            <a:endParaRPr lang="en-US" dirty="0"/>
          </a:p>
        </p:txBody>
      </p:sp>
      <p:sp>
        <p:nvSpPr>
          <p:cNvPr id="3" name="Content Placeholder 2"/>
          <p:cNvSpPr>
            <a:spLocks noGrp="1"/>
          </p:cNvSpPr>
          <p:nvPr>
            <p:ph idx="1"/>
          </p:nvPr>
        </p:nvSpPr>
        <p:spPr/>
        <p:txBody>
          <a:bodyPr/>
          <a:lstStyle/>
          <a:p>
            <a:pPr>
              <a:buNone/>
            </a:pPr>
            <a:r>
              <a:rPr lang="en-US" dirty="0" smtClean="0"/>
              <a:t>How </a:t>
            </a:r>
            <a:r>
              <a:rPr lang="en-US" dirty="0"/>
              <a:t>can you make sure that a model is robust and generalisable? What are the implications of the same for the accuracy of the model and why?</a:t>
            </a:r>
          </a:p>
          <a:p>
            <a:pPr>
              <a:buNone/>
            </a:pP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Answer</a:t>
            </a:r>
            <a:endParaRPr lang="en-US" dirty="0"/>
          </a:p>
        </p:txBody>
      </p:sp>
      <p:sp>
        <p:nvSpPr>
          <p:cNvPr id="3" name="Content Placeholder 2"/>
          <p:cNvSpPr>
            <a:spLocks noGrp="1"/>
          </p:cNvSpPr>
          <p:nvPr>
            <p:ph idx="1"/>
          </p:nvPr>
        </p:nvSpPr>
        <p:spPr>
          <a:xfrm>
            <a:off x="457200" y="1447800"/>
            <a:ext cx="8229600" cy="4906963"/>
          </a:xfrm>
        </p:spPr>
        <p:txBody>
          <a:bodyPr>
            <a:normAutofit/>
          </a:bodyPr>
          <a:lstStyle/>
          <a:p>
            <a:pPr>
              <a:buNone/>
            </a:pPr>
            <a:r>
              <a:rPr lang="en-US" sz="2000" dirty="0" smtClean="0">
                <a:latin typeface="Calibri" pitchFamily="34" charset="0"/>
                <a:cs typeface="Calibri" pitchFamily="34" charset="0"/>
              </a:rPr>
              <a:t>1)The </a:t>
            </a:r>
            <a:r>
              <a:rPr lang="en-US" sz="2000" dirty="0">
                <a:latin typeface="Calibri" pitchFamily="34" charset="0"/>
                <a:cs typeface="Calibri" pitchFamily="34" charset="0"/>
              </a:rPr>
              <a:t>model should </a:t>
            </a:r>
            <a:r>
              <a:rPr lang="en-US" sz="2000" dirty="0" smtClean="0">
                <a:latin typeface="Calibri" pitchFamily="34" charset="0"/>
                <a:cs typeface="Calibri" pitchFamily="34" charset="0"/>
              </a:rPr>
              <a:t>be able to indentify the underlying patterns of the data</a:t>
            </a:r>
            <a:endParaRPr lang="en-US" sz="2000" dirty="0">
              <a:latin typeface="Calibri" pitchFamily="34" charset="0"/>
              <a:cs typeface="Calibri" pitchFamily="34" charset="0"/>
            </a:endParaRPr>
          </a:p>
          <a:p>
            <a:pPr>
              <a:buNone/>
            </a:pPr>
            <a:r>
              <a:rPr lang="en-US" sz="2000" dirty="0" smtClean="0">
                <a:latin typeface="Calibri" pitchFamily="34" charset="0"/>
                <a:cs typeface="Calibri" pitchFamily="34" charset="0"/>
              </a:rPr>
              <a:t>    other </a:t>
            </a:r>
            <a:r>
              <a:rPr lang="en-US" sz="2000" dirty="0">
                <a:latin typeface="Calibri" pitchFamily="34" charset="0"/>
                <a:cs typeface="Calibri" pitchFamily="34" charset="0"/>
              </a:rPr>
              <a:t>than the </a:t>
            </a:r>
            <a:r>
              <a:rPr lang="en-US" sz="2000" dirty="0" smtClean="0">
                <a:latin typeface="Calibri" pitchFamily="34" charset="0"/>
                <a:cs typeface="Calibri" pitchFamily="34" charset="0"/>
              </a:rPr>
              <a:t>one </a:t>
            </a:r>
            <a:r>
              <a:rPr lang="en-US" sz="2000" dirty="0">
                <a:latin typeface="Calibri" pitchFamily="34" charset="0"/>
                <a:cs typeface="Calibri" pitchFamily="34" charset="0"/>
              </a:rPr>
              <a:t>which were used during training. </a:t>
            </a:r>
            <a:endParaRPr lang="en-US" sz="2000" dirty="0" smtClean="0">
              <a:latin typeface="Calibri" pitchFamily="34" charset="0"/>
              <a:cs typeface="Calibri" pitchFamily="34" charset="0"/>
            </a:endParaRPr>
          </a:p>
          <a:p>
            <a:pPr>
              <a:buNone/>
            </a:pPr>
            <a:r>
              <a:rPr lang="en-US" sz="2000" dirty="0" smtClean="0">
                <a:latin typeface="Calibri" pitchFamily="34" charset="0"/>
                <a:cs typeface="Calibri" pitchFamily="34" charset="0"/>
              </a:rPr>
              <a:t>2)</a:t>
            </a:r>
            <a:r>
              <a:rPr lang="en-US" sz="2000" dirty="0" smtClean="0">
                <a:latin typeface="Calibri" pitchFamily="34" charset="0"/>
                <a:cs typeface="Calibri" pitchFamily="34" charset="0"/>
              </a:rPr>
              <a:t> The model should also be generalisable so that the test </a:t>
            </a:r>
            <a:r>
              <a:rPr lang="en-US" sz="2000" dirty="0" smtClean="0">
                <a:latin typeface="Calibri" pitchFamily="34" charset="0"/>
                <a:cs typeface="Calibri" pitchFamily="34" charset="0"/>
              </a:rPr>
              <a:t>accuracy </a:t>
            </a:r>
            <a:r>
              <a:rPr lang="en-US" sz="2000" dirty="0" smtClean="0">
                <a:latin typeface="Calibri" pitchFamily="34" charset="0"/>
                <a:cs typeface="Calibri" pitchFamily="34" charset="0"/>
              </a:rPr>
              <a:t>is not lesser than the training </a:t>
            </a:r>
            <a:r>
              <a:rPr lang="en-US" sz="2000" dirty="0" smtClean="0">
                <a:latin typeface="Calibri" pitchFamily="34" charset="0"/>
                <a:cs typeface="Calibri" pitchFamily="34" charset="0"/>
              </a:rPr>
              <a:t>score</a:t>
            </a:r>
            <a:endParaRPr lang="en-US" sz="2000" dirty="0" smtClean="0">
              <a:latin typeface="Calibri" pitchFamily="34" charset="0"/>
              <a:cs typeface="Calibri" pitchFamily="34" charset="0"/>
            </a:endParaRPr>
          </a:p>
          <a:p>
            <a:pPr>
              <a:buNone/>
            </a:pPr>
            <a:r>
              <a:rPr lang="en-US" sz="2000" dirty="0" smtClean="0">
                <a:latin typeface="Calibri" pitchFamily="34" charset="0"/>
                <a:cs typeface="Calibri" pitchFamily="34" charset="0"/>
              </a:rPr>
              <a:t>3</a:t>
            </a:r>
            <a:r>
              <a:rPr lang="en-US" sz="2000" dirty="0" smtClean="0">
                <a:latin typeface="Calibri" pitchFamily="34" charset="0"/>
                <a:cs typeface="Calibri" pitchFamily="34" charset="0"/>
              </a:rPr>
              <a:t>) </a:t>
            </a:r>
            <a:r>
              <a:rPr lang="en-US" sz="2000" dirty="0" smtClean="0">
                <a:latin typeface="Calibri" pitchFamily="34" charset="0"/>
                <a:cs typeface="Calibri" pitchFamily="34" charset="0"/>
              </a:rPr>
              <a:t>In order that the accuracy predicted by the model is high, too </a:t>
            </a:r>
            <a:r>
              <a:rPr lang="en-US" sz="2000" dirty="0">
                <a:latin typeface="Calibri" pitchFamily="34" charset="0"/>
                <a:cs typeface="Calibri" pitchFamily="34" charset="0"/>
              </a:rPr>
              <a:t>much </a:t>
            </a:r>
            <a:r>
              <a:rPr lang="en-US" sz="2000" dirty="0" smtClean="0">
                <a:latin typeface="Calibri" pitchFamily="34" charset="0"/>
                <a:cs typeface="Calibri" pitchFamily="34" charset="0"/>
              </a:rPr>
              <a:t>weightage should </a:t>
            </a:r>
            <a:r>
              <a:rPr lang="en-US" sz="2000" dirty="0">
                <a:latin typeface="Calibri" pitchFamily="34" charset="0"/>
                <a:cs typeface="Calibri" pitchFamily="34" charset="0"/>
              </a:rPr>
              <a:t>not </a:t>
            </a:r>
            <a:r>
              <a:rPr lang="en-US" sz="2000" dirty="0" smtClean="0">
                <a:latin typeface="Calibri" pitchFamily="34" charset="0"/>
                <a:cs typeface="Calibri" pitchFamily="34" charset="0"/>
              </a:rPr>
              <a:t>given to </a:t>
            </a:r>
            <a:r>
              <a:rPr lang="en-US" sz="2000" dirty="0">
                <a:latin typeface="Calibri" pitchFamily="34" charset="0"/>
                <a:cs typeface="Calibri" pitchFamily="34" charset="0"/>
              </a:rPr>
              <a:t>the </a:t>
            </a:r>
            <a:r>
              <a:rPr lang="en-US" sz="2000" dirty="0" smtClean="0">
                <a:latin typeface="Calibri" pitchFamily="34" charset="0"/>
                <a:cs typeface="Calibri" pitchFamily="34" charset="0"/>
              </a:rPr>
              <a:t>outliers. The </a:t>
            </a:r>
            <a:r>
              <a:rPr lang="en-US" sz="2000" dirty="0">
                <a:latin typeface="Calibri" pitchFamily="34" charset="0"/>
                <a:cs typeface="Calibri" pitchFamily="34" charset="0"/>
              </a:rPr>
              <a:t>outlier analysis needs to be done and only those which are relevant to the </a:t>
            </a:r>
            <a:r>
              <a:rPr lang="en-US" sz="2000" dirty="0" smtClean="0">
                <a:latin typeface="Calibri" pitchFamily="34" charset="0"/>
                <a:cs typeface="Calibri" pitchFamily="34" charset="0"/>
              </a:rPr>
              <a:t> dataset </a:t>
            </a:r>
            <a:r>
              <a:rPr lang="en-US" sz="2000" dirty="0">
                <a:latin typeface="Calibri" pitchFamily="34" charset="0"/>
                <a:cs typeface="Calibri" pitchFamily="34" charset="0"/>
              </a:rPr>
              <a:t>need to be retained. </a:t>
            </a:r>
            <a:endParaRPr lang="en-US" sz="2000" dirty="0" smtClean="0">
              <a:latin typeface="Calibri" pitchFamily="34" charset="0"/>
              <a:cs typeface="Calibri" pitchFamily="34" charset="0"/>
            </a:endParaRPr>
          </a:p>
          <a:p>
            <a:pPr>
              <a:buNone/>
            </a:pPr>
            <a:r>
              <a:rPr lang="en-US" sz="2000" dirty="0" smtClean="0">
                <a:latin typeface="Calibri" pitchFamily="34" charset="0"/>
                <a:cs typeface="Calibri" pitchFamily="34" charset="0"/>
              </a:rPr>
              <a:t>4</a:t>
            </a:r>
            <a:r>
              <a:rPr lang="en-US" sz="2000" dirty="0" smtClean="0">
                <a:latin typeface="Calibri" pitchFamily="34" charset="0"/>
                <a:cs typeface="Calibri" pitchFamily="34" charset="0"/>
              </a:rPr>
              <a:t>)Confidence </a:t>
            </a:r>
            <a:r>
              <a:rPr lang="en-US" sz="2000" dirty="0">
                <a:latin typeface="Calibri" pitchFamily="34" charset="0"/>
                <a:cs typeface="Calibri" pitchFamily="34" charset="0"/>
              </a:rPr>
              <a:t>intervals can be </a:t>
            </a:r>
            <a:r>
              <a:rPr lang="en-US" sz="2000" dirty="0" smtClean="0">
                <a:latin typeface="Calibri" pitchFamily="34" charset="0"/>
                <a:cs typeface="Calibri" pitchFamily="34" charset="0"/>
              </a:rPr>
              <a:t>used</a:t>
            </a:r>
          </a:p>
          <a:p>
            <a:pPr>
              <a:buNone/>
            </a:pPr>
            <a:endParaRPr lang="en-US" sz="2000" dirty="0" smtClean="0">
              <a:latin typeface="Calibri" pitchFamily="34" charset="0"/>
              <a:cs typeface="Calibri" pitchFamily="34" charset="0"/>
            </a:endParaRPr>
          </a:p>
          <a:p>
            <a:pPr>
              <a:buNone/>
            </a:pPr>
            <a:r>
              <a:rPr lang="en-US" sz="2000" dirty="0" smtClean="0"/>
              <a:t>       The </a:t>
            </a:r>
            <a:r>
              <a:rPr lang="en-US" sz="2000" dirty="0" smtClean="0"/>
              <a:t>accuracy </a:t>
            </a:r>
            <a:r>
              <a:rPr lang="en-US" sz="2000" dirty="0" smtClean="0"/>
              <a:t>is </a:t>
            </a:r>
            <a:r>
              <a:rPr lang="en-US" sz="2000" dirty="0" smtClean="0"/>
              <a:t>the same due to the fact that </a:t>
            </a:r>
            <a:r>
              <a:rPr lang="en-US" sz="2000" dirty="0" smtClean="0"/>
              <a:t>neither of the models are able to distinguish between the classes(in case of classification problem) &amp;</a:t>
            </a:r>
          </a:p>
          <a:p>
            <a:pPr>
              <a:buNone/>
            </a:pPr>
            <a:r>
              <a:rPr lang="en-US" sz="2000" dirty="0" smtClean="0"/>
              <a:t>    Or the optimizer </a:t>
            </a:r>
            <a:r>
              <a:rPr lang="en-US" sz="2000" dirty="0" smtClean="0"/>
              <a:t>is not suited to your dataset</a:t>
            </a:r>
            <a:r>
              <a:rPr lang="en-US" sz="2000" dirty="0" smtClean="0"/>
              <a:t>. We need to look at K-Fold Validation  for this</a:t>
            </a:r>
            <a:endParaRPr lang="en-US" sz="2000" dirty="0" smtClean="0">
              <a:latin typeface="Calibri" pitchFamily="34" charset="0"/>
              <a:cs typeface="Calibri" pitchFamily="34" charset="0"/>
            </a:endParaRPr>
          </a:p>
          <a:p>
            <a:pPr>
              <a:buNone/>
            </a:pPr>
            <a:endParaRPr lang="en-US" sz="2000" dirty="0" smtClean="0">
              <a:latin typeface="Calibri" pitchFamily="34" charset="0"/>
              <a:cs typeface="Calibri" pitchFamily="34" charset="0"/>
            </a:endParaRPr>
          </a:p>
          <a:p>
            <a:pPr>
              <a:buNone/>
            </a:pPr>
            <a:endParaRPr lang="en-US" sz="2000" dirty="0" smtClean="0">
              <a:latin typeface="Calibri" pitchFamily="34" charset="0"/>
              <a:cs typeface="Calibri" pitchFamily="34" charset="0"/>
            </a:endParaRPr>
          </a:p>
          <a:p>
            <a:pPr>
              <a:buNone/>
            </a:pPr>
            <a:endParaRPr lang="en-US" sz="2000" dirty="0">
              <a:latin typeface="Calibri" pitchFamily="34" charset="0"/>
              <a:cs typeface="Calibri" pitchFamily="34" charset="0"/>
            </a:endParaRP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odule">
  <a:themeElements>
    <a:clrScheme name="Module">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fontScheme name="Module">
      <a:maj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Modul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47500"/>
                <a:satMod val="137000"/>
              </a:schemeClr>
            </a:gs>
            <a:gs pos="55000">
              <a:schemeClr val="phClr">
                <a:shade val="69000"/>
                <a:satMod val="137000"/>
              </a:schemeClr>
            </a:gs>
            <a:gs pos="100000">
              <a:schemeClr val="phClr">
                <a:shade val="98000"/>
                <a:satMod val="137000"/>
              </a:schemeClr>
            </a:gs>
          </a:gsLst>
          <a:lin ang="16200000" scaled="0"/>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fov="0">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48000"/>
                <a:satMod val="300000"/>
              </a:schemeClr>
            </a:gs>
            <a:gs pos="12000">
              <a:schemeClr val="phClr">
                <a:tint val="48000"/>
                <a:satMod val="300000"/>
              </a:schemeClr>
            </a:gs>
            <a:gs pos="20000">
              <a:schemeClr val="phClr">
                <a:tint val="49000"/>
                <a:satMod val="300000"/>
              </a:schemeClr>
            </a:gs>
            <a:gs pos="100000">
              <a:schemeClr val="phClr">
                <a:shade val="30000"/>
              </a:schemeClr>
            </a:gs>
          </a:gsLst>
          <a:path path="circle">
            <a:fillToRect l="10000" t="-25000" r="10000" b="125000"/>
          </a:path>
        </a:gradFill>
        <a:blipFill>
          <a:blip xmlns:r="http://schemas.openxmlformats.org/officeDocument/2006/relationships" r:embed="rId1">
            <a:duotone>
              <a:schemeClr val="phClr">
                <a:shade val="75000"/>
                <a:satMod val="105000"/>
              </a:schemeClr>
              <a:schemeClr val="phClr">
                <a:tint val="95000"/>
                <a:satMod val="105000"/>
              </a:schemeClr>
            </a:duotone>
          </a:blip>
          <a:tile tx="0" ty="0" sx="38000" sy="38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Module</Template>
  <TotalTime>235</TotalTime>
  <Words>500</Words>
  <Application>Microsoft Office PowerPoint</Application>
  <PresentationFormat>On-screen Show (4:3)</PresentationFormat>
  <Paragraphs>48</Paragraphs>
  <Slides>10</Slides>
  <Notes>0</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Module</vt:lpstr>
      <vt:lpstr>Problem Statement - Part II</vt:lpstr>
      <vt:lpstr>Question 1 </vt:lpstr>
      <vt:lpstr>Answer</vt:lpstr>
      <vt:lpstr>Changes in the model if you choose double the value of alpha for both ridge and lasso:- As lambda value increases further, we notice that the model starts underfitting.  This can be seen by the decrease in R-squared value decreases for the train data and increases for test data </vt:lpstr>
      <vt:lpstr>Question 2 </vt:lpstr>
      <vt:lpstr>Answer</vt:lpstr>
      <vt:lpstr>Question 3 </vt:lpstr>
      <vt:lpstr>Answer</vt:lpstr>
      <vt:lpstr>Question 4 </vt:lpstr>
      <vt:lpstr>Answer</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Problem Statement - Part II</dc:title>
  <dc:creator>user</dc:creator>
  <cp:lastModifiedBy>user</cp:lastModifiedBy>
  <cp:revision>3</cp:revision>
  <dcterms:created xsi:type="dcterms:W3CDTF">2021-04-26T03:12:03Z</dcterms:created>
  <dcterms:modified xsi:type="dcterms:W3CDTF">2021-04-26T18:22:59Z</dcterms:modified>
</cp:coreProperties>
</file>